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7562850" cy="10688638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E4D"/>
    <a:srgbClr val="94A6B2"/>
    <a:srgbClr val="18181A"/>
    <a:srgbClr val="D11566"/>
    <a:srgbClr val="9CBF2B"/>
    <a:srgbClr val="494949"/>
    <a:srgbClr val="4BACC6"/>
    <a:srgbClr val="8BAA26"/>
    <a:srgbClr val="8CAC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338" autoAdjust="0"/>
    <p:restoredTop sz="94660"/>
  </p:normalViewPr>
  <p:slideViewPr>
    <p:cSldViewPr snapToGrid="0" snapToObjects="1">
      <p:cViewPr>
        <p:scale>
          <a:sx n="112" d="100"/>
          <a:sy n="112" d="100"/>
        </p:scale>
        <p:origin x="1771" y="62"/>
      </p:cViewPr>
      <p:guideLst>
        <p:guide orient="horz" pos="3367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2BCE7-100F-4C12-81CE-D314812ECEEA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2E0CB-1A6E-4DEA-8F58-FAE0DBA1BF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420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>
                <a:solidFill>
                  <a:srgbClr val="909090"/>
                </a:solidFill>
                <a:effectLst/>
                <a:latin typeface="Lato"/>
              </a:rPr>
              <a:t>Cvexemple.com - Tous droits réservés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52E0CB-1A6E-4DEA-8F58-FAE0DBA1BF3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1707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214" y="3320407"/>
            <a:ext cx="6428423" cy="229112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428" y="6056895"/>
            <a:ext cx="5293995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413" y="6868441"/>
            <a:ext cx="6428423" cy="212288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413" y="4530301"/>
            <a:ext cx="6428423" cy="23381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12493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90577" y="3887003"/>
            <a:ext cx="2752037" cy="1099544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392573"/>
            <a:ext cx="3341572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143" y="3389684"/>
            <a:ext cx="3341572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823" y="2392573"/>
            <a:ext cx="3342885" cy="9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823" y="3389684"/>
            <a:ext cx="3342885" cy="6158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143" y="425566"/>
            <a:ext cx="2488126" cy="18111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864" y="425567"/>
            <a:ext cx="4227843" cy="91224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143" y="2236697"/>
            <a:ext cx="2488126" cy="73113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372" y="7482047"/>
            <a:ext cx="4537710" cy="8832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482372" y="955049"/>
            <a:ext cx="4537710" cy="641318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372" y="8365344"/>
            <a:ext cx="4537710" cy="1254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535084" y="668040"/>
            <a:ext cx="1407530" cy="142144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12493" y="668040"/>
            <a:ext cx="4096544" cy="14214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143" y="428041"/>
            <a:ext cx="6806565" cy="17814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143" y="2494016"/>
            <a:ext cx="6806565" cy="70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1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974" y="9906785"/>
            <a:ext cx="239490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20043" y="9906785"/>
            <a:ext cx="176466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454224A-4F2A-49FE-8C9C-BA7B2EBE9060}"/>
              </a:ext>
            </a:extLst>
          </p:cNvPr>
          <p:cNvSpPr/>
          <p:nvPr/>
        </p:nvSpPr>
        <p:spPr>
          <a:xfrm>
            <a:off x="3182803" y="2322428"/>
            <a:ext cx="470092" cy="381918"/>
          </a:xfrm>
          <a:prstGeom prst="rect">
            <a:avLst/>
          </a:prstGeom>
          <a:solidFill>
            <a:srgbClr val="35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B0F8560-5E53-4520-8A64-B96A035AB626}"/>
              </a:ext>
            </a:extLst>
          </p:cNvPr>
          <p:cNvSpPr/>
          <p:nvPr/>
        </p:nvSpPr>
        <p:spPr>
          <a:xfrm>
            <a:off x="80932" y="2305437"/>
            <a:ext cx="470092" cy="399845"/>
          </a:xfrm>
          <a:prstGeom prst="rect">
            <a:avLst/>
          </a:prstGeom>
          <a:solidFill>
            <a:srgbClr val="35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747D00D-425D-4D56-9E14-593A51C30D10}"/>
              </a:ext>
            </a:extLst>
          </p:cNvPr>
          <p:cNvSpPr/>
          <p:nvPr/>
        </p:nvSpPr>
        <p:spPr>
          <a:xfrm>
            <a:off x="3187708" y="8582330"/>
            <a:ext cx="470092" cy="399845"/>
          </a:xfrm>
          <a:prstGeom prst="rect">
            <a:avLst/>
          </a:prstGeom>
          <a:solidFill>
            <a:srgbClr val="35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: Rounded Corners 83">
            <a:extLst>
              <a:ext uri="{FF2B5EF4-FFF2-40B4-BE49-F238E27FC236}">
                <a16:creationId xmlns:a16="http://schemas.microsoft.com/office/drawing/2014/main" id="{2F7C1514-9BC1-495E-8C93-6D7FC2903B01}"/>
              </a:ext>
            </a:extLst>
          </p:cNvPr>
          <p:cNvSpPr/>
          <p:nvPr/>
        </p:nvSpPr>
        <p:spPr>
          <a:xfrm>
            <a:off x="553359" y="8581015"/>
            <a:ext cx="2525888" cy="38156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87313"/>
            <a:r>
              <a:rPr lang="fr-FR" sz="1400" b="1" dirty="0">
                <a:solidFill>
                  <a:srgbClr val="353E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endParaRPr lang="fr-FR" sz="1600" b="1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: Rounded Corners 83">
            <a:extLst>
              <a:ext uri="{FF2B5EF4-FFF2-40B4-BE49-F238E27FC236}">
                <a16:creationId xmlns:a16="http://schemas.microsoft.com/office/drawing/2014/main" id="{2F7C1514-9BC1-495E-8C93-6D7FC2903B01}"/>
              </a:ext>
            </a:extLst>
          </p:cNvPr>
          <p:cNvSpPr/>
          <p:nvPr/>
        </p:nvSpPr>
        <p:spPr>
          <a:xfrm>
            <a:off x="3657800" y="8582330"/>
            <a:ext cx="3820090" cy="39223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87313"/>
            <a:r>
              <a:rPr lang="fr-FR" sz="1400" b="1" dirty="0">
                <a:solidFill>
                  <a:srgbClr val="353E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36" name="Rectangle: Rounded Corners 83">
            <a:extLst>
              <a:ext uri="{FF2B5EF4-FFF2-40B4-BE49-F238E27FC236}">
                <a16:creationId xmlns:a16="http://schemas.microsoft.com/office/drawing/2014/main" id="{2F7C1514-9BC1-495E-8C93-6D7FC2903B01}"/>
              </a:ext>
            </a:extLst>
          </p:cNvPr>
          <p:cNvSpPr/>
          <p:nvPr/>
        </p:nvSpPr>
        <p:spPr>
          <a:xfrm>
            <a:off x="553359" y="2311363"/>
            <a:ext cx="2553398" cy="38868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87313"/>
            <a:r>
              <a:rPr lang="fr-FR" sz="1400" b="1" dirty="0">
                <a:solidFill>
                  <a:srgbClr val="353E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endParaRPr lang="fr-FR" sz="1600" b="1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: Rounded Corners 83">
            <a:extLst>
              <a:ext uri="{FF2B5EF4-FFF2-40B4-BE49-F238E27FC236}">
                <a16:creationId xmlns:a16="http://schemas.microsoft.com/office/drawing/2014/main" id="{2F7C1514-9BC1-495E-8C93-6D7FC2903B01}"/>
              </a:ext>
            </a:extLst>
          </p:cNvPr>
          <p:cNvSpPr/>
          <p:nvPr/>
        </p:nvSpPr>
        <p:spPr>
          <a:xfrm>
            <a:off x="3652895" y="2313542"/>
            <a:ext cx="3824995" cy="38191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87313"/>
            <a:r>
              <a:rPr lang="fr-FR" sz="1400" b="1" dirty="0">
                <a:solidFill>
                  <a:srgbClr val="353E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  <a:endParaRPr lang="fr-FR" sz="1600" b="1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à coins arrondis 1"/>
          <p:cNvSpPr/>
          <p:nvPr/>
        </p:nvSpPr>
        <p:spPr>
          <a:xfrm>
            <a:off x="115615" y="92596"/>
            <a:ext cx="7338482" cy="2248275"/>
          </a:xfrm>
          <a:prstGeom prst="roundRect">
            <a:avLst>
              <a:gd name="adj" fmla="val 10170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Rectangle à coins arrondis 93"/>
          <p:cNvSpPr/>
          <p:nvPr/>
        </p:nvSpPr>
        <p:spPr>
          <a:xfrm>
            <a:off x="84959" y="2313542"/>
            <a:ext cx="3017791" cy="618935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35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Rectangle à coins arrondis 95"/>
          <p:cNvSpPr/>
          <p:nvPr/>
        </p:nvSpPr>
        <p:spPr>
          <a:xfrm>
            <a:off x="83265" y="8574719"/>
            <a:ext cx="3019485" cy="2045688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35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7313" algn="ctr"/>
            <a:endParaRPr lang="fr-FR" sz="1400" b="1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MALAGASY </a:t>
            </a:r>
          </a:p>
          <a:p>
            <a:pPr>
              <a:lnSpc>
                <a:spcPct val="107000"/>
              </a:lnSpc>
            </a:pP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FRANÇAIS</a:t>
            </a:r>
          </a:p>
          <a:p>
            <a:pPr>
              <a:lnSpc>
                <a:spcPct val="107000"/>
              </a:lnSpc>
            </a:pP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ANGLAIS           </a:t>
            </a:r>
          </a:p>
          <a:p>
            <a:pPr marL="87313"/>
            <a:endParaRPr lang="fr-FR" sz="1400" b="1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7313"/>
            <a:endParaRPr lang="fr-FR" sz="1400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à coins arrondis 53"/>
          <p:cNvSpPr/>
          <p:nvPr/>
        </p:nvSpPr>
        <p:spPr>
          <a:xfrm>
            <a:off x="3187708" y="2313542"/>
            <a:ext cx="4290182" cy="618935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35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200" b="1" cap="all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200" b="1" cap="all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cap="all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Développeur back - end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depuis Mai 2024 - 2026:</a:t>
            </a:r>
          </a:p>
          <a:p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Stack: Python, PHP, PL/SQL, MySQL, </a:t>
            </a: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Oracle, N8N</a:t>
            </a:r>
          </a:p>
          <a:p>
            <a:pPr marL="171450" indent="-171450">
              <a:buSzPct val="120000"/>
              <a:buFont typeface="Times New Roman" panose="02020603050405020304" pitchFamily="18" charset="0"/>
              <a:buChar char="‣"/>
            </a:pPr>
            <a:r>
              <a:rPr lang="fr-FR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Regard Service Inc.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(Hybride)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des bases de données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Maintenir la fonctionnalité de logiciel ERP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d’outils IA et scripts d’automatisation des tâches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régulière et sécurisation des bases de données</a:t>
            </a:r>
          </a:p>
          <a:p>
            <a:endParaRPr lang="fr-FR" sz="1200" b="1" cap="all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cap="all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Développeur FRONT - END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Avril 2021 - Mai 2024:</a:t>
            </a:r>
          </a:p>
          <a:p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Stack: JavaScript, </a:t>
            </a:r>
            <a:r>
              <a:rPr lang="fr-FR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Shopify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WordPress</a:t>
            </a:r>
          </a:p>
          <a:p>
            <a:pPr marL="171450" lvl="0" indent="-171450">
              <a:buSzPct val="120000"/>
              <a:buFont typeface="Times New Roman" panose="02020603050405020304" pitchFamily="18" charset="0"/>
              <a:buChar char="‣"/>
            </a:pPr>
            <a:r>
              <a:rPr lang="fr-FR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 Valorem Sarl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(Sur site)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et maintenance du plateforme web et d’application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Implantation de code et optimisation des performances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Implémentation d’interfaces plus performants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outils IT intégrés dans la gestion des projets</a:t>
            </a:r>
          </a:p>
          <a:p>
            <a:pPr lvl="0"/>
            <a:endParaRPr lang="fr-FR" sz="1200" b="1" cap="all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cap="all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webmaster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Juin 2019 - Mars 2021:</a:t>
            </a:r>
          </a:p>
          <a:p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Stack: </a:t>
            </a:r>
            <a:r>
              <a:rPr lang="fr-FR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Shopify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WordPress, </a:t>
            </a: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Odoo, </a:t>
            </a: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Klaviyo</a:t>
            </a: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Zapier</a:t>
            </a:r>
            <a:endParaRPr lang="fr-FR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SzPct val="120000"/>
              <a:buFont typeface="Times New Roman" panose="02020603050405020304" pitchFamily="18" charset="0"/>
              <a:buChar char="‣"/>
            </a:pPr>
            <a:r>
              <a:rPr lang="fr-FR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Shakti Outsourcing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(Sur site)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des fonctionnalités de la plateforme e-commerce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 en webdesign et en conception de maquette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Adaptation aux normes pour la référence SEO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script pour </a:t>
            </a:r>
            <a:r>
              <a:rPr lang="fr-FR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collecte des données</a:t>
            </a:r>
          </a:p>
          <a:p>
            <a:endParaRPr lang="fr-FR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cap="all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fr-FR" sz="1200" b="1" cap="all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technicien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Mars 2018 - Juin 2019:</a:t>
            </a:r>
          </a:p>
          <a:p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Stack: Active Directory, DNS/DHCP, Lan/</a:t>
            </a:r>
            <a:r>
              <a:rPr lang="fr-FR" sz="1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Wlan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VPN</a:t>
            </a:r>
          </a:p>
          <a:p>
            <a:pPr marL="171450" lvl="0" indent="-171450">
              <a:buSzPct val="120000"/>
              <a:buFont typeface="Times New Roman" panose="02020603050405020304" pitchFamily="18" charset="0"/>
              <a:buChar char="‣"/>
            </a:pPr>
            <a:r>
              <a:rPr lang="fr-FR" sz="1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Kinga</a:t>
            </a:r>
            <a:r>
              <a:rPr lang="fr-FR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Shop </a:t>
            </a: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(Sur site)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IT pour résoudre les problèmes techniques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et configuration des équipements informatiques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des matériels et met à jour les logiciels 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de réseau (VPN) et sécurisation des connexions</a:t>
            </a:r>
          </a:p>
        </p:txBody>
      </p:sp>
      <p:sp>
        <p:nvSpPr>
          <p:cNvPr id="55" name="Rectangle à coins arrondis 54"/>
          <p:cNvSpPr/>
          <p:nvPr/>
        </p:nvSpPr>
        <p:spPr>
          <a:xfrm>
            <a:off x="3187708" y="8582331"/>
            <a:ext cx="4290183" cy="2038076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35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fr-FR" sz="1400" b="1" dirty="0">
              <a:solidFill>
                <a:srgbClr val="353E4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UNIVERSITE D’ANTANANARIVO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Septembre 2017 - Juin 2021: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Licence en Informatique et Technologie</a:t>
            </a:r>
            <a:r>
              <a:rPr lang="fr-FR" sz="1200" b="1" cap="all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fr-FR" sz="1200" b="1" cap="all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 INFORMATIQUE</a:t>
            </a:r>
          </a:p>
          <a:p>
            <a:pPr lvl="0"/>
            <a:r>
              <a:rPr lang="fr-FR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Juillet 2021 - Septembre 2022: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fr-FR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Certificat en Développement web et IT</a:t>
            </a:r>
            <a:endParaRPr lang="fr-FR" sz="1200" b="1" cap="all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74261" y="2899787"/>
            <a:ext cx="1346385" cy="998101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- END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endParaRPr lang="fr-F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à coins arrondis 41"/>
          <p:cNvSpPr/>
          <p:nvPr/>
        </p:nvSpPr>
        <p:spPr>
          <a:xfrm>
            <a:off x="1621722" y="2938788"/>
            <a:ext cx="1186416" cy="919423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- END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PL/SQL</a:t>
            </a:r>
          </a:p>
        </p:txBody>
      </p:sp>
      <p:sp>
        <p:nvSpPr>
          <p:cNvPr id="43" name="Rectangle à coins arrondis 42"/>
          <p:cNvSpPr/>
          <p:nvPr/>
        </p:nvSpPr>
        <p:spPr>
          <a:xfrm>
            <a:off x="73423" y="4023592"/>
            <a:ext cx="1181607" cy="93892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CMS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Shopify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Joomla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PrestaShop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à coins arrondis 43"/>
          <p:cNvSpPr/>
          <p:nvPr/>
        </p:nvSpPr>
        <p:spPr>
          <a:xfrm>
            <a:off x="1599594" y="4027104"/>
            <a:ext cx="1320851" cy="93892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BASE 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</p:txBody>
      </p:sp>
      <p:sp>
        <p:nvSpPr>
          <p:cNvPr id="45" name="Rectangle à coins arrondis 44"/>
          <p:cNvSpPr/>
          <p:nvPr/>
        </p:nvSpPr>
        <p:spPr>
          <a:xfrm>
            <a:off x="72317" y="6200031"/>
            <a:ext cx="1377549" cy="970907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GitHub/</a:t>
            </a: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</a:p>
        </p:txBody>
      </p:sp>
      <p:sp>
        <p:nvSpPr>
          <p:cNvPr id="46" name="Rectangle à coins arrondis 45"/>
          <p:cNvSpPr/>
          <p:nvPr/>
        </p:nvSpPr>
        <p:spPr>
          <a:xfrm>
            <a:off x="1598722" y="7317181"/>
            <a:ext cx="1561911" cy="936559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Directory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DNS/DHCP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Lan/</a:t>
            </a: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Wlan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VPN</a:t>
            </a:r>
            <a:endParaRPr lang="fr-FR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: Rounded Corners 111">
            <a:extLst>
              <a:ext uri="{FF2B5EF4-FFF2-40B4-BE49-F238E27FC236}">
                <a16:creationId xmlns:a16="http://schemas.microsoft.com/office/drawing/2014/main" id="{9E0A7A7E-E141-48C6-A851-1BC7CE81312B}"/>
              </a:ext>
            </a:extLst>
          </p:cNvPr>
          <p:cNvSpPr/>
          <p:nvPr/>
        </p:nvSpPr>
        <p:spPr>
          <a:xfrm>
            <a:off x="1341923" y="9309531"/>
            <a:ext cx="1319557" cy="127648"/>
          </a:xfrm>
          <a:prstGeom prst="roundRect">
            <a:avLst/>
          </a:prstGeom>
          <a:solidFill>
            <a:srgbClr val="353E4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2" name="Rectangle: Rounded Corners 110">
            <a:extLst>
              <a:ext uri="{FF2B5EF4-FFF2-40B4-BE49-F238E27FC236}">
                <a16:creationId xmlns:a16="http://schemas.microsoft.com/office/drawing/2014/main" id="{8769BFC0-D3BC-4CEA-A401-5B1FE0B19892}"/>
              </a:ext>
            </a:extLst>
          </p:cNvPr>
          <p:cNvSpPr/>
          <p:nvPr/>
        </p:nvSpPr>
        <p:spPr>
          <a:xfrm>
            <a:off x="1346386" y="9311137"/>
            <a:ext cx="1310630" cy="122643"/>
          </a:xfrm>
          <a:prstGeom prst="roundRect">
            <a:avLst/>
          </a:prstGeom>
          <a:noFill/>
          <a:ln w="12700">
            <a:solidFill>
              <a:srgbClr val="35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3" name="Rectangle: Rounded Corners 110">
            <a:extLst>
              <a:ext uri="{FF2B5EF4-FFF2-40B4-BE49-F238E27FC236}">
                <a16:creationId xmlns:a16="http://schemas.microsoft.com/office/drawing/2014/main" id="{8769BFC0-D3BC-4CEA-A401-5B1FE0B19892}"/>
              </a:ext>
            </a:extLst>
          </p:cNvPr>
          <p:cNvSpPr/>
          <p:nvPr/>
        </p:nvSpPr>
        <p:spPr>
          <a:xfrm>
            <a:off x="1341923" y="9701346"/>
            <a:ext cx="1332164" cy="122643"/>
          </a:xfrm>
          <a:prstGeom prst="roundRect">
            <a:avLst/>
          </a:prstGeom>
          <a:noFill/>
          <a:ln w="12700">
            <a:solidFill>
              <a:srgbClr val="35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4" name="Rectangle: Rounded Corners 111">
            <a:extLst>
              <a:ext uri="{FF2B5EF4-FFF2-40B4-BE49-F238E27FC236}">
                <a16:creationId xmlns:a16="http://schemas.microsoft.com/office/drawing/2014/main" id="{9E0A7A7E-E141-48C6-A851-1BC7CE81312B}"/>
              </a:ext>
            </a:extLst>
          </p:cNvPr>
          <p:cNvSpPr/>
          <p:nvPr/>
        </p:nvSpPr>
        <p:spPr>
          <a:xfrm>
            <a:off x="1341923" y="9700366"/>
            <a:ext cx="1170085" cy="124601"/>
          </a:xfrm>
          <a:prstGeom prst="roundRect">
            <a:avLst/>
          </a:prstGeom>
          <a:solidFill>
            <a:srgbClr val="353E4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5" name="Rectangle: Rounded Corners 110">
            <a:extLst>
              <a:ext uri="{FF2B5EF4-FFF2-40B4-BE49-F238E27FC236}">
                <a16:creationId xmlns:a16="http://schemas.microsoft.com/office/drawing/2014/main" id="{8769BFC0-D3BC-4CEA-A401-5B1FE0B19892}"/>
              </a:ext>
            </a:extLst>
          </p:cNvPr>
          <p:cNvSpPr/>
          <p:nvPr/>
        </p:nvSpPr>
        <p:spPr>
          <a:xfrm>
            <a:off x="1346386" y="10092600"/>
            <a:ext cx="1332164" cy="122643"/>
          </a:xfrm>
          <a:prstGeom prst="roundRect">
            <a:avLst/>
          </a:prstGeom>
          <a:noFill/>
          <a:ln w="12700">
            <a:solidFill>
              <a:srgbClr val="353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6" name="Rectangle: Rounded Corners 111">
            <a:extLst>
              <a:ext uri="{FF2B5EF4-FFF2-40B4-BE49-F238E27FC236}">
                <a16:creationId xmlns:a16="http://schemas.microsoft.com/office/drawing/2014/main" id="{9E0A7A7E-E141-48C6-A851-1BC7CE81312B}"/>
              </a:ext>
            </a:extLst>
          </p:cNvPr>
          <p:cNvSpPr/>
          <p:nvPr/>
        </p:nvSpPr>
        <p:spPr>
          <a:xfrm>
            <a:off x="1341140" y="10091553"/>
            <a:ext cx="859700" cy="126504"/>
          </a:xfrm>
          <a:prstGeom prst="roundRect">
            <a:avLst/>
          </a:prstGeom>
          <a:solidFill>
            <a:srgbClr val="353E4D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pSp>
        <p:nvGrpSpPr>
          <p:cNvPr id="99" name="Group 6"/>
          <p:cNvGrpSpPr/>
          <p:nvPr/>
        </p:nvGrpSpPr>
        <p:grpSpPr>
          <a:xfrm>
            <a:off x="3837656" y="8855800"/>
            <a:ext cx="290236" cy="115097"/>
            <a:chOff x="0" y="-28575"/>
            <a:chExt cx="217896" cy="51523"/>
          </a:xfrm>
        </p:grpSpPr>
        <p:sp>
          <p:nvSpPr>
            <p:cNvPr id="102" name="Freeform 7"/>
            <p:cNvSpPr/>
            <p:nvPr/>
          </p:nvSpPr>
          <p:spPr>
            <a:xfrm>
              <a:off x="0" y="0"/>
              <a:ext cx="188324" cy="22948"/>
            </a:xfrm>
            <a:custGeom>
              <a:avLst/>
              <a:gdLst/>
              <a:ahLst/>
              <a:cxnLst/>
              <a:rect l="l" t="t" r="r" b="b"/>
              <a:pathLst>
                <a:path w="217896" h="20466">
                  <a:moveTo>
                    <a:pt x="10233" y="0"/>
                  </a:moveTo>
                  <a:lnTo>
                    <a:pt x="207663" y="0"/>
                  </a:lnTo>
                  <a:cubicBezTo>
                    <a:pt x="213315" y="0"/>
                    <a:pt x="217896" y="4581"/>
                    <a:pt x="217896" y="10233"/>
                  </a:cubicBezTo>
                  <a:lnTo>
                    <a:pt x="217896" y="10233"/>
                  </a:lnTo>
                  <a:cubicBezTo>
                    <a:pt x="217896" y="15885"/>
                    <a:pt x="213315" y="20466"/>
                    <a:pt x="207663" y="20466"/>
                  </a:cubicBezTo>
                  <a:lnTo>
                    <a:pt x="10233" y="20466"/>
                  </a:lnTo>
                  <a:cubicBezTo>
                    <a:pt x="4581" y="20466"/>
                    <a:pt x="0" y="15885"/>
                    <a:pt x="0" y="10233"/>
                  </a:cubicBezTo>
                  <a:lnTo>
                    <a:pt x="0" y="10233"/>
                  </a:lnTo>
                  <a:cubicBezTo>
                    <a:pt x="0" y="4581"/>
                    <a:pt x="4581" y="0"/>
                    <a:pt x="10233" y="0"/>
                  </a:cubicBezTo>
                  <a:close/>
                </a:path>
              </a:pathLst>
            </a:custGeom>
            <a:solidFill>
              <a:srgbClr val="353E4D"/>
            </a:solidFill>
          </p:spPr>
        </p:sp>
        <p:sp>
          <p:nvSpPr>
            <p:cNvPr id="103" name="TextBox 8"/>
            <p:cNvSpPr txBox="1"/>
            <p:nvPr/>
          </p:nvSpPr>
          <p:spPr>
            <a:xfrm>
              <a:off x="0" y="-28575"/>
              <a:ext cx="217896" cy="49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6"/>
                </a:lnSpc>
              </a:pPr>
              <a:endParaRPr/>
            </a:p>
          </p:txBody>
        </p:sp>
      </p:grpSp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989" y="2309379"/>
            <a:ext cx="244098" cy="382495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83267" y="8574719"/>
            <a:ext cx="470092" cy="399845"/>
          </a:xfrm>
          <a:prstGeom prst="rect">
            <a:avLst/>
          </a:prstGeom>
          <a:solidFill>
            <a:srgbClr val="353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5" y="8582330"/>
            <a:ext cx="374889" cy="380252"/>
          </a:xfrm>
          <a:prstGeom prst="rect">
            <a:avLst/>
          </a:prstGeom>
        </p:spPr>
      </p:pic>
      <p:sp>
        <p:nvSpPr>
          <p:cNvPr id="180" name="Shape">
            <a:extLst>
              <a:ext uri="{FF2B5EF4-FFF2-40B4-BE49-F238E27FC236}">
                <a16:creationId xmlns:a16="http://schemas.microsoft.com/office/drawing/2014/main" id="{4BE2E80A-7216-4296-9BA1-538B9E2F43CB}"/>
              </a:ext>
            </a:extLst>
          </p:cNvPr>
          <p:cNvSpPr/>
          <p:nvPr/>
        </p:nvSpPr>
        <p:spPr>
          <a:xfrm>
            <a:off x="3268192" y="8641332"/>
            <a:ext cx="298647" cy="25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4" h="21472" extrusionOk="0">
                <a:moveTo>
                  <a:pt x="3386" y="13932"/>
                </a:moveTo>
                <a:cubicBezTo>
                  <a:pt x="4126" y="16483"/>
                  <a:pt x="4518" y="17503"/>
                  <a:pt x="6826" y="18467"/>
                </a:cubicBezTo>
                <a:cubicBezTo>
                  <a:pt x="8742" y="19998"/>
                  <a:pt x="9918" y="21472"/>
                  <a:pt x="10702" y="21472"/>
                </a:cubicBezTo>
                <a:cubicBezTo>
                  <a:pt x="11486" y="21472"/>
                  <a:pt x="12662" y="19998"/>
                  <a:pt x="14578" y="18978"/>
                </a:cubicBezTo>
                <a:cubicBezTo>
                  <a:pt x="16886" y="17503"/>
                  <a:pt x="16102" y="17503"/>
                  <a:pt x="16886" y="14499"/>
                </a:cubicBezTo>
                <a:cubicBezTo>
                  <a:pt x="10702" y="18467"/>
                  <a:pt x="10702" y="18467"/>
                  <a:pt x="10702" y="18467"/>
                </a:cubicBezTo>
                <a:lnTo>
                  <a:pt x="3386" y="13932"/>
                </a:lnTo>
                <a:close/>
                <a:moveTo>
                  <a:pt x="21110" y="6902"/>
                </a:moveTo>
                <a:cubicBezTo>
                  <a:pt x="11834" y="382"/>
                  <a:pt x="11834" y="382"/>
                  <a:pt x="11834" y="382"/>
                </a:cubicBezTo>
                <a:cubicBezTo>
                  <a:pt x="11486" y="-128"/>
                  <a:pt x="10310" y="-128"/>
                  <a:pt x="9526" y="382"/>
                </a:cubicBezTo>
                <a:cubicBezTo>
                  <a:pt x="294" y="6902"/>
                  <a:pt x="294" y="6902"/>
                  <a:pt x="294" y="6902"/>
                </a:cubicBezTo>
                <a:cubicBezTo>
                  <a:pt x="-98" y="7412"/>
                  <a:pt x="-98" y="7922"/>
                  <a:pt x="294" y="8943"/>
                </a:cubicBezTo>
                <a:cubicBezTo>
                  <a:pt x="9526" y="15463"/>
                  <a:pt x="9526" y="15463"/>
                  <a:pt x="9526" y="15463"/>
                </a:cubicBezTo>
                <a:cubicBezTo>
                  <a:pt x="10310" y="15973"/>
                  <a:pt x="11486" y="15973"/>
                  <a:pt x="11834" y="15463"/>
                </a:cubicBezTo>
                <a:cubicBezTo>
                  <a:pt x="17670" y="10927"/>
                  <a:pt x="17670" y="10927"/>
                  <a:pt x="17670" y="10927"/>
                </a:cubicBezTo>
                <a:cubicBezTo>
                  <a:pt x="11486" y="8943"/>
                  <a:pt x="11486" y="8943"/>
                  <a:pt x="11486" y="8943"/>
                </a:cubicBezTo>
                <a:cubicBezTo>
                  <a:pt x="11094" y="8943"/>
                  <a:pt x="11094" y="9396"/>
                  <a:pt x="10702" y="9396"/>
                </a:cubicBezTo>
                <a:cubicBezTo>
                  <a:pt x="9526" y="9396"/>
                  <a:pt x="8742" y="8433"/>
                  <a:pt x="8742" y="7412"/>
                </a:cubicBezTo>
                <a:cubicBezTo>
                  <a:pt x="8742" y="6902"/>
                  <a:pt x="9526" y="5938"/>
                  <a:pt x="10702" y="5938"/>
                </a:cubicBezTo>
                <a:cubicBezTo>
                  <a:pt x="11486" y="5938"/>
                  <a:pt x="12270" y="6392"/>
                  <a:pt x="12662" y="6902"/>
                </a:cubicBezTo>
                <a:cubicBezTo>
                  <a:pt x="19194" y="9907"/>
                  <a:pt x="19194" y="9907"/>
                  <a:pt x="19194" y="9907"/>
                </a:cubicBezTo>
                <a:cubicBezTo>
                  <a:pt x="21110" y="8943"/>
                  <a:pt x="21110" y="8943"/>
                  <a:pt x="21110" y="8943"/>
                </a:cubicBezTo>
                <a:cubicBezTo>
                  <a:pt x="21502" y="7922"/>
                  <a:pt x="21502" y="7412"/>
                  <a:pt x="21110" y="6902"/>
                </a:cubicBezTo>
                <a:close/>
                <a:moveTo>
                  <a:pt x="18410" y="19488"/>
                </a:moveTo>
                <a:cubicBezTo>
                  <a:pt x="18018" y="19998"/>
                  <a:pt x="19586" y="20508"/>
                  <a:pt x="19978" y="18978"/>
                </a:cubicBezTo>
                <a:cubicBezTo>
                  <a:pt x="20326" y="11948"/>
                  <a:pt x="19194" y="9907"/>
                  <a:pt x="19194" y="9907"/>
                </a:cubicBezTo>
                <a:cubicBezTo>
                  <a:pt x="17670" y="10927"/>
                  <a:pt x="17670" y="10927"/>
                  <a:pt x="17670" y="10927"/>
                </a:cubicBezTo>
                <a:cubicBezTo>
                  <a:pt x="17670" y="10927"/>
                  <a:pt x="19194" y="12458"/>
                  <a:pt x="18410" y="19488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lnSpc>
                <a:spcPct val="80000"/>
              </a:lnSpc>
              <a:defRPr sz="7000" spc="14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2" y="2307139"/>
            <a:ext cx="470092" cy="398143"/>
          </a:xfrm>
          <a:prstGeom prst="rect">
            <a:avLst/>
          </a:prstGeom>
          <a:effectLst/>
        </p:spPr>
      </p:pic>
      <p:sp>
        <p:nvSpPr>
          <p:cNvPr id="75" name="Rectangle à coins arrondis 74"/>
          <p:cNvSpPr/>
          <p:nvPr/>
        </p:nvSpPr>
        <p:spPr>
          <a:xfrm>
            <a:off x="75191" y="7313323"/>
            <a:ext cx="1118381" cy="93892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Photoshop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Illustrator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Canva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à coins arrondis 79"/>
          <p:cNvSpPr/>
          <p:nvPr/>
        </p:nvSpPr>
        <p:spPr>
          <a:xfrm>
            <a:off x="1594702" y="6191254"/>
            <a:ext cx="1783015" cy="99550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AUTOMATISATION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N8N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Zapier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Automate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A05304F-A708-4066-81AF-8633686970C0}"/>
              </a:ext>
            </a:extLst>
          </p:cNvPr>
          <p:cNvSpPr/>
          <p:nvPr/>
        </p:nvSpPr>
        <p:spPr>
          <a:xfrm>
            <a:off x="3187708" y="48548"/>
            <a:ext cx="4290183" cy="2210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Développeur IA Automatisation &amp; IT Tech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Nom: Romain Sergio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Numéro: +261 37 31 015 23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Adresse: Antananarivo, MADAGASCAR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sergio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hazary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@gmail.com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Portfolio: 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https://romainsergio.web.app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https://github.com/S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ergioHazary</a:t>
            </a:r>
          </a:p>
          <a:p>
            <a:pPr>
              <a:lnSpc>
                <a:spcPct val="115000"/>
              </a:lnSpc>
            </a:pPr>
            <a:r>
              <a:rPr lang="fr-F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https://gitlab.com/S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ergio_Hazary</a:t>
            </a:r>
          </a:p>
          <a:p>
            <a:pPr>
              <a:lnSpc>
                <a:spcPct val="115000"/>
              </a:lnSpc>
            </a:pP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www.linkedin.com/in/sergio-hazary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9FD5DD-C300-481B-B6AC-263970DAD7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358" y="1"/>
            <a:ext cx="2125191" cy="2280212"/>
          </a:xfrm>
          <a:prstGeom prst="rect">
            <a:avLst/>
          </a:prstGeom>
        </p:spPr>
      </p:pic>
      <p:sp>
        <p:nvSpPr>
          <p:cNvPr id="56" name="Rectangle à coins arrondis 44">
            <a:extLst>
              <a:ext uri="{FF2B5EF4-FFF2-40B4-BE49-F238E27FC236}">
                <a16:creationId xmlns:a16="http://schemas.microsoft.com/office/drawing/2014/main" id="{C2C53397-5CC5-4564-A25D-2BB2C2EAD17B}"/>
              </a:ext>
            </a:extLst>
          </p:cNvPr>
          <p:cNvSpPr/>
          <p:nvPr/>
        </p:nvSpPr>
        <p:spPr>
          <a:xfrm>
            <a:off x="1610757" y="5107059"/>
            <a:ext cx="1293606" cy="970907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Mirakl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 BZC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PLF</a:t>
            </a:r>
          </a:p>
        </p:txBody>
      </p:sp>
      <p:sp>
        <p:nvSpPr>
          <p:cNvPr id="57" name="Rectangle à coins arrondis 44">
            <a:extLst>
              <a:ext uri="{FF2B5EF4-FFF2-40B4-BE49-F238E27FC236}">
                <a16:creationId xmlns:a16="http://schemas.microsoft.com/office/drawing/2014/main" id="{26192C6F-B8E7-4A83-886F-DCE0CFD8A094}"/>
              </a:ext>
            </a:extLst>
          </p:cNvPr>
          <p:cNvSpPr/>
          <p:nvPr/>
        </p:nvSpPr>
        <p:spPr>
          <a:xfrm>
            <a:off x="72602" y="5131673"/>
            <a:ext cx="1658216" cy="927051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CRM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Odoo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Dynamics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Klaviyo</a:t>
            </a:r>
            <a:endParaRPr lang="fr-F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9" name="Group 6">
            <a:extLst>
              <a:ext uri="{FF2B5EF4-FFF2-40B4-BE49-F238E27FC236}">
                <a16:creationId xmlns:a16="http://schemas.microsoft.com/office/drawing/2014/main" id="{5B7E9999-A502-441A-90EF-79549A72B08B}"/>
              </a:ext>
            </a:extLst>
          </p:cNvPr>
          <p:cNvGrpSpPr/>
          <p:nvPr/>
        </p:nvGrpSpPr>
        <p:grpSpPr>
          <a:xfrm>
            <a:off x="722973" y="8859223"/>
            <a:ext cx="290236" cy="115097"/>
            <a:chOff x="0" y="-28575"/>
            <a:chExt cx="217896" cy="51523"/>
          </a:xfrm>
        </p:grpSpPr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BE2F3E1B-EE98-401A-B367-48D01CA0C1FE}"/>
                </a:ext>
              </a:extLst>
            </p:cNvPr>
            <p:cNvSpPr/>
            <p:nvPr/>
          </p:nvSpPr>
          <p:spPr>
            <a:xfrm>
              <a:off x="0" y="0"/>
              <a:ext cx="188324" cy="22948"/>
            </a:xfrm>
            <a:custGeom>
              <a:avLst/>
              <a:gdLst/>
              <a:ahLst/>
              <a:cxnLst/>
              <a:rect l="l" t="t" r="r" b="b"/>
              <a:pathLst>
                <a:path w="217896" h="20466">
                  <a:moveTo>
                    <a:pt x="10233" y="0"/>
                  </a:moveTo>
                  <a:lnTo>
                    <a:pt x="207663" y="0"/>
                  </a:lnTo>
                  <a:cubicBezTo>
                    <a:pt x="213315" y="0"/>
                    <a:pt x="217896" y="4581"/>
                    <a:pt x="217896" y="10233"/>
                  </a:cubicBezTo>
                  <a:lnTo>
                    <a:pt x="217896" y="10233"/>
                  </a:lnTo>
                  <a:cubicBezTo>
                    <a:pt x="217896" y="15885"/>
                    <a:pt x="213315" y="20466"/>
                    <a:pt x="207663" y="20466"/>
                  </a:cubicBezTo>
                  <a:lnTo>
                    <a:pt x="10233" y="20466"/>
                  </a:lnTo>
                  <a:cubicBezTo>
                    <a:pt x="4581" y="20466"/>
                    <a:pt x="0" y="15885"/>
                    <a:pt x="0" y="10233"/>
                  </a:cubicBezTo>
                  <a:lnTo>
                    <a:pt x="0" y="10233"/>
                  </a:lnTo>
                  <a:cubicBezTo>
                    <a:pt x="0" y="4581"/>
                    <a:pt x="4581" y="0"/>
                    <a:pt x="10233" y="0"/>
                  </a:cubicBezTo>
                  <a:close/>
                </a:path>
              </a:pathLst>
            </a:custGeom>
            <a:solidFill>
              <a:srgbClr val="353E4D"/>
            </a:solidFill>
          </p:spPr>
        </p:sp>
        <p:sp>
          <p:nvSpPr>
            <p:cNvPr id="71" name="TextBox 8">
              <a:extLst>
                <a:ext uri="{FF2B5EF4-FFF2-40B4-BE49-F238E27FC236}">
                  <a16:creationId xmlns:a16="http://schemas.microsoft.com/office/drawing/2014/main" id="{44F8F9F8-3C36-4BC0-8ADF-1B3FE422C702}"/>
                </a:ext>
              </a:extLst>
            </p:cNvPr>
            <p:cNvSpPr txBox="1"/>
            <p:nvPr/>
          </p:nvSpPr>
          <p:spPr>
            <a:xfrm>
              <a:off x="0" y="-28575"/>
              <a:ext cx="217896" cy="49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6"/>
                </a:lnSpc>
              </a:pPr>
              <a:endParaRPr/>
            </a:p>
          </p:txBody>
        </p:sp>
      </p:grpSp>
      <p:grpSp>
        <p:nvGrpSpPr>
          <p:cNvPr id="72" name="Group 6">
            <a:extLst>
              <a:ext uri="{FF2B5EF4-FFF2-40B4-BE49-F238E27FC236}">
                <a16:creationId xmlns:a16="http://schemas.microsoft.com/office/drawing/2014/main" id="{6A5A18DD-BBD5-46AB-B1D5-44894735BE82}"/>
              </a:ext>
            </a:extLst>
          </p:cNvPr>
          <p:cNvGrpSpPr/>
          <p:nvPr/>
        </p:nvGrpSpPr>
        <p:grpSpPr>
          <a:xfrm>
            <a:off x="733597" y="2594794"/>
            <a:ext cx="290236" cy="115097"/>
            <a:chOff x="0" y="-28575"/>
            <a:chExt cx="217896" cy="51523"/>
          </a:xfrm>
        </p:grpSpPr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4D10E627-36DD-450A-8739-D1BCF1A0328E}"/>
                </a:ext>
              </a:extLst>
            </p:cNvPr>
            <p:cNvSpPr/>
            <p:nvPr/>
          </p:nvSpPr>
          <p:spPr>
            <a:xfrm>
              <a:off x="0" y="0"/>
              <a:ext cx="188324" cy="22948"/>
            </a:xfrm>
            <a:custGeom>
              <a:avLst/>
              <a:gdLst/>
              <a:ahLst/>
              <a:cxnLst/>
              <a:rect l="l" t="t" r="r" b="b"/>
              <a:pathLst>
                <a:path w="217896" h="20466">
                  <a:moveTo>
                    <a:pt x="10233" y="0"/>
                  </a:moveTo>
                  <a:lnTo>
                    <a:pt x="207663" y="0"/>
                  </a:lnTo>
                  <a:cubicBezTo>
                    <a:pt x="213315" y="0"/>
                    <a:pt x="217896" y="4581"/>
                    <a:pt x="217896" y="10233"/>
                  </a:cubicBezTo>
                  <a:lnTo>
                    <a:pt x="217896" y="10233"/>
                  </a:lnTo>
                  <a:cubicBezTo>
                    <a:pt x="217896" y="15885"/>
                    <a:pt x="213315" y="20466"/>
                    <a:pt x="207663" y="20466"/>
                  </a:cubicBezTo>
                  <a:lnTo>
                    <a:pt x="10233" y="20466"/>
                  </a:lnTo>
                  <a:cubicBezTo>
                    <a:pt x="4581" y="20466"/>
                    <a:pt x="0" y="15885"/>
                    <a:pt x="0" y="10233"/>
                  </a:cubicBezTo>
                  <a:lnTo>
                    <a:pt x="0" y="10233"/>
                  </a:lnTo>
                  <a:cubicBezTo>
                    <a:pt x="0" y="4581"/>
                    <a:pt x="4581" y="0"/>
                    <a:pt x="10233" y="0"/>
                  </a:cubicBezTo>
                  <a:close/>
                </a:path>
              </a:pathLst>
            </a:custGeom>
            <a:solidFill>
              <a:srgbClr val="353E4D"/>
            </a:solidFill>
          </p:spPr>
        </p:sp>
        <p:sp>
          <p:nvSpPr>
            <p:cNvPr id="74" name="TextBox 8">
              <a:extLst>
                <a:ext uri="{FF2B5EF4-FFF2-40B4-BE49-F238E27FC236}">
                  <a16:creationId xmlns:a16="http://schemas.microsoft.com/office/drawing/2014/main" id="{A157B61F-6806-4A07-83E9-87FBAD37DF1D}"/>
                </a:ext>
              </a:extLst>
            </p:cNvPr>
            <p:cNvSpPr txBox="1"/>
            <p:nvPr/>
          </p:nvSpPr>
          <p:spPr>
            <a:xfrm>
              <a:off x="0" y="-28575"/>
              <a:ext cx="217896" cy="49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6"/>
                </a:lnSpc>
              </a:pPr>
              <a:endParaRPr/>
            </a:p>
          </p:txBody>
        </p:sp>
      </p:grpSp>
      <p:grpSp>
        <p:nvGrpSpPr>
          <p:cNvPr id="82" name="Group 6">
            <a:extLst>
              <a:ext uri="{FF2B5EF4-FFF2-40B4-BE49-F238E27FC236}">
                <a16:creationId xmlns:a16="http://schemas.microsoft.com/office/drawing/2014/main" id="{A2FA5CC5-44C1-4606-9830-268A29258C6E}"/>
              </a:ext>
            </a:extLst>
          </p:cNvPr>
          <p:cNvGrpSpPr/>
          <p:nvPr/>
        </p:nvGrpSpPr>
        <p:grpSpPr>
          <a:xfrm>
            <a:off x="3837656" y="2589249"/>
            <a:ext cx="290236" cy="115097"/>
            <a:chOff x="0" y="-28575"/>
            <a:chExt cx="217896" cy="51523"/>
          </a:xfrm>
        </p:grpSpPr>
        <p:sp>
          <p:nvSpPr>
            <p:cNvPr id="83" name="Freeform 7">
              <a:extLst>
                <a:ext uri="{FF2B5EF4-FFF2-40B4-BE49-F238E27FC236}">
                  <a16:creationId xmlns:a16="http://schemas.microsoft.com/office/drawing/2014/main" id="{8AFA14FD-9AE3-4035-B695-4BF2659311C1}"/>
                </a:ext>
              </a:extLst>
            </p:cNvPr>
            <p:cNvSpPr/>
            <p:nvPr/>
          </p:nvSpPr>
          <p:spPr>
            <a:xfrm>
              <a:off x="0" y="0"/>
              <a:ext cx="188324" cy="22948"/>
            </a:xfrm>
            <a:custGeom>
              <a:avLst/>
              <a:gdLst/>
              <a:ahLst/>
              <a:cxnLst/>
              <a:rect l="l" t="t" r="r" b="b"/>
              <a:pathLst>
                <a:path w="217896" h="20466">
                  <a:moveTo>
                    <a:pt x="10233" y="0"/>
                  </a:moveTo>
                  <a:lnTo>
                    <a:pt x="207663" y="0"/>
                  </a:lnTo>
                  <a:cubicBezTo>
                    <a:pt x="213315" y="0"/>
                    <a:pt x="217896" y="4581"/>
                    <a:pt x="217896" y="10233"/>
                  </a:cubicBezTo>
                  <a:lnTo>
                    <a:pt x="217896" y="10233"/>
                  </a:lnTo>
                  <a:cubicBezTo>
                    <a:pt x="217896" y="15885"/>
                    <a:pt x="213315" y="20466"/>
                    <a:pt x="207663" y="20466"/>
                  </a:cubicBezTo>
                  <a:lnTo>
                    <a:pt x="10233" y="20466"/>
                  </a:lnTo>
                  <a:cubicBezTo>
                    <a:pt x="4581" y="20466"/>
                    <a:pt x="0" y="15885"/>
                    <a:pt x="0" y="10233"/>
                  </a:cubicBezTo>
                  <a:lnTo>
                    <a:pt x="0" y="10233"/>
                  </a:lnTo>
                  <a:cubicBezTo>
                    <a:pt x="0" y="4581"/>
                    <a:pt x="4581" y="0"/>
                    <a:pt x="10233" y="0"/>
                  </a:cubicBezTo>
                  <a:close/>
                </a:path>
              </a:pathLst>
            </a:custGeom>
            <a:solidFill>
              <a:srgbClr val="353E4D"/>
            </a:solidFill>
          </p:spPr>
        </p:sp>
        <p:sp>
          <p:nvSpPr>
            <p:cNvPr id="84" name="TextBox 8">
              <a:extLst>
                <a:ext uri="{FF2B5EF4-FFF2-40B4-BE49-F238E27FC236}">
                  <a16:creationId xmlns:a16="http://schemas.microsoft.com/office/drawing/2014/main" id="{B369D54B-BBB3-4F1D-89E5-F1DB5B41AD2D}"/>
                </a:ext>
              </a:extLst>
            </p:cNvPr>
            <p:cNvSpPr txBox="1"/>
            <p:nvPr/>
          </p:nvSpPr>
          <p:spPr>
            <a:xfrm>
              <a:off x="0" y="-28575"/>
              <a:ext cx="217896" cy="49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66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825553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5433</TotalTime>
  <Words>424</Words>
  <Application>Microsoft Office PowerPoint</Application>
  <PresentationFormat>Personnalisé</PresentationFormat>
  <Paragraphs>116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Lato</vt:lpstr>
      <vt:lpstr>Times New Roman</vt:lpstr>
      <vt:lpstr>Wingdings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CV_Sergio</dc:title>
  <dc:creator>Sergio</dc:creator>
  <cp:keywords>CV_Sergio</cp:keywords>
  <cp:lastModifiedBy>Sergio</cp:lastModifiedBy>
  <cp:revision>974</cp:revision>
  <dcterms:created xsi:type="dcterms:W3CDTF">2015-07-03T12:55:42Z</dcterms:created>
  <dcterms:modified xsi:type="dcterms:W3CDTF">2026-10-07T11:50:40Z</dcterms:modified>
  <cp:category>CV_Sergio</cp:category>
</cp:coreProperties>
</file>